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x/icon_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291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fund analytics pipeline — from raw AMFI data to an interactive dashboard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023360"/>
            <a:ext cx="320040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297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Internship — Capstone Project I
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Avika Aswal   |   Project Manager: Yash Kale
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x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8229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011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663440" y="73152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investors and analysts need a way to see fund performance, risk, and investor behavior in one place — not scattered across raw NAV files and static fact sheets.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663440" y="228600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00600" y="2423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0" y="235915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ETL pipeline that ingests AMFI + mfapi.in data into a clean, queryable database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63440" y="333756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3474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0" y="341071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industry-standard performance metrics (CAGR, Sharpe, Sortino, Alpha/Beta) correctly and verifiably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663440" y="438912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4526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86400" y="446227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risk and investor-behavior analytics: VaR, cohorts, SIP continuity, a fund recommender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663440" y="544068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55778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486400" y="551383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it all through an interactive, four-page Power BI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200" dirty="0"/>
          </a:p>
        </p:txBody>
      </p:sp>
      <p:pic>
        <p:nvPicPr>
          <p:cNvPr id="3" name="Image 0" descr="/home/claude/pptx/icon_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1148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371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pic>
        <p:nvPicPr>
          <p:cNvPr id="5" name="Image 1" descr="/home/claude/pptx/icon_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777240" y="26517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 tracked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429000" y="1371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pic>
        <p:nvPicPr>
          <p:cNvPr id="9" name="Image 2" descr="/home/claude/pptx/icon_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5544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6616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~1.6M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3566160" y="26517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rows (Jan 2022 – May 2026)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217920" y="1371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pic>
        <p:nvPicPr>
          <p:cNvPr id="13" name="Image 3" descr="/home/claude/pptx/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55448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5508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</a:t>
            </a:r>
            <a:endParaRPr lang="en-US" sz="3000" dirty="0"/>
          </a:p>
        </p:txBody>
      </p:sp>
      <p:sp>
        <p:nvSpPr>
          <p:cNvPr id="15" name="Text 9"/>
          <p:cNvSpPr/>
          <p:nvPr/>
        </p:nvSpPr>
        <p:spPr>
          <a:xfrm>
            <a:off x="6355080" y="26517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 (Jan 2024 – May 2025)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9006840" y="1371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pic>
        <p:nvPicPr>
          <p:cNvPr id="17" name="Image 4" descr="/home/claude/pptx/icon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55448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4400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9" name="Text 12"/>
          <p:cNvSpPr/>
          <p:nvPr/>
        </p:nvSpPr>
        <p:spPr>
          <a:xfrm>
            <a:off x="9144000" y="26517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CSVs + live mfapi.in feed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01_fund_master.csv  </a:t>
            </a:r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attributes — category, expense ratio, risk grade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nav_history_clean.csv  </a:t>
            </a:r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history for all 40 schemes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scheme_performance_clean.csv  </a:t>
            </a:r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Sharpe, Sortino, Alpha, Beta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10_benchmark_indices.csv  </a:t>
            </a:r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/ Nifty 100 and 5 other indices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scope gap: investor transaction data (2024–2025) is narrower than NAV/benchmark data (2022–2026)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pic>
        <p:nvPicPr>
          <p:cNvPr id="4" name="Image 0" descr="/home/claude/pptx/icon_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23317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33375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CSVs +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 live feed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624328" y="3026664"/>
            <a:ext cx="219456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2862072" y="210312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pic>
        <p:nvPicPr>
          <p:cNvPr id="9" name="Image 1" descr="/home/claude/pptx/icon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3317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53512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953512" y="33375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846320" y="3026664"/>
            <a:ext cx="219456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5084064" y="210312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pic>
        <p:nvPicPr>
          <p:cNvPr id="14" name="Image 2" descr="/home/claude/pptx/icon_ba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23317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75504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175504" y="33375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068312" y="3026664"/>
            <a:ext cx="219456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8" name="Shape 13"/>
          <p:cNvSpPr/>
          <p:nvPr/>
        </p:nvSpPr>
        <p:spPr>
          <a:xfrm>
            <a:off x="7306056" y="210312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pic>
        <p:nvPicPr>
          <p:cNvPr id="19" name="Image 3" descr="/home/claude/pptx/icon_activity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716" y="233172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97496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397496" y="33375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performance,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290304" y="3026664"/>
            <a:ext cx="219456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3" name="Shape 17"/>
          <p:cNvSpPr/>
          <p:nvPr/>
        </p:nvSpPr>
        <p:spPr>
          <a:xfrm>
            <a:off x="9528048" y="210312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 w="12700">
            <a:solidFill>
              <a:srgbClr val="E2E6F5"/>
            </a:solidFill>
            <a:prstDash val="solid"/>
          </a:ln>
        </p:spPr>
      </p:sp>
      <p:pic>
        <p:nvPicPr>
          <p:cNvPr id="24" name="Image 4" descr="/home/claude/pptx/icon_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6708" y="2331720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19488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619488" y="33375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+ drill-through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writes its output to disk before the next stage reads it — so any stage can be re-run and verified on its own.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4008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SQLite · SQLAlchemy · Jupyter · scipy.stats · Plotly · Power BI · DAX · Git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Exploratory Data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built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288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4340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PNGs exported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18288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04672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documented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trends  ·  AUM  ·  SIP inflows  ·  sector allocation  ·  investor demographics  ·  geography  ·  folio growth  ·  correlation  ·  risk-return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pic>
        <p:nvPicPr>
          <p:cNvPr id="16" name="Image 0" descr="/home/claude/pptx/icon_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257800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54480" y="516636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fixes along the way: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Kaleido downgraded 1.3.0 → 0.2.1 for PNG export on Windows; Timestamp serialization fixed with .strftime() before JSON export.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that shaped everything after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pic>
        <p:nvPicPr>
          <p:cNvPr id="5" name="Image 0" descr="/home/claude/pptx/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2880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 between funds — even funds tracking the same index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20240" y="2377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signal that the NAV data was generated independently rather than from shared market movement — confirmed later with Beta, R², and tracking error.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notable patterns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187952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&amp; liquid funds show unusually low volatility — later found to mathematically inflate Sharpe Ratio under a near-zero risk-free assumption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5193792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allocation across 34 equity funds shows plausible diversification, later quantified with HHI (0.108–0.206)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Sharpe, Sortino, Alpha &amp; Beta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&amp; Sortino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= 6.5%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(RBI repo rate proxy, per spec)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discrepancy vs. the database’s precomputed Sharpe — traced to a near-zero Rf assumption there, not an error in either calculation.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&amp; Beta vs. Nifty 100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β = −0.002   R² = 0.0006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40 slopes significant at p &lt; 0.05. Strong evidence fund returns move independently of the benchmark.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computed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CAGR:  </a:t>
            </a:r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1yr / 3yr / since-inception — true 5yr not computable (dataset spans ~4.4 years)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Drawdown:  </a:t>
            </a:r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−21.8% to −52.6%, with peak-to-trough windows of 169–1,015 days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&amp; Benchmark Comparison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— composite score (0–100)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6400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37160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Return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148567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120505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120843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120504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206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3yr return + 25% Sharpe + 20% Alpha + 15% expense ratio (inv) + 10% max drawdown (inv), all percentile-ranked.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06640" y="2011680"/>
            <a:ext cx="4069080" cy="246888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</p:spPr>
      </p:sp>
      <p:pic>
        <p:nvPicPr>
          <p:cNvPr id="8" name="Image 0" descr="/home/claude/pptx/icon_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1945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096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Error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680960" y="3108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18.7%–23.3%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7680960" y="3749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annualized, top 5 funds vs. Nifty 100 — vs. a typical 2–8% for active funds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4846320"/>
            <a:ext cx="10835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top funds trended upward (100 → 220–260) while Nifty 50 trended downward (100 → ~75) over the same 3-year window — visually reinforcing the near-zero Beta finding.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</a:t>
            </a:r>
            <a:endParaRPr lang="en-US" sz="1500" dirty="0"/>
          </a:p>
        </p:txBody>
      </p:sp>
      <p:pic>
        <p:nvPicPr>
          <p:cNvPr id="4" name="Image 0" descr="/mnt/user-data/uploads/page1_industry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2675" y="1417320"/>
            <a:ext cx="878634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</a:t>
            </a:r>
            <a:endParaRPr lang="en-US" sz="1500" dirty="0"/>
          </a:p>
        </p:txBody>
      </p:sp>
      <p:pic>
        <p:nvPicPr>
          <p:cNvPr id="4" name="Image 0" descr="/mnt/user-data/uploads/page4_sip_market_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657" y="1417320"/>
            <a:ext cx="905238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45336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pic>
        <p:nvPicPr>
          <p:cNvPr id="5" name="Image 0" descr="/home/claude/pptx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0992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4813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verified pipeline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874520" y="187452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database, EDA, performance analytics, advanced risk metrics, and a 4-page dashboard — all built and cross-checked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670048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843784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pic>
        <p:nvPicPr>
          <p:cNvPr id="10" name="Image 1" descr="/home/claude/pptx/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008376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2779776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synthetic NAV data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874520" y="3172968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correlation, near-zero Beta/R², and abnormal tracking error all point the same direction — flagged as a limitation, not hidden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968496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142232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pic>
        <p:nvPicPr>
          <p:cNvPr id="15" name="Image 2" descr="/home/claude/pptx/icon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06824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4078224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bugs caught and fixed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874520" y="4471416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units mislabeling, a many-to-many fan-out in Power BI, and a Sharpe Ratio discrepancy traced to its root cause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5266944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54406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pic>
        <p:nvPicPr>
          <p:cNvPr id="20" name="Image 3" descr="/home/claude/pptx/icon_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605272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74520" y="537667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Verification-first approach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1874520" y="5769864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precomputed value was cross-checked against an independent calculation before being trusted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/icon_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4630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937760" y="4434840"/>
            <a:ext cx="228600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663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Avika Aswal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github.com/Avika26/mutual-fund-capstone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2026-08-16T04:58:06Z</dcterms:created>
  <dcterms:modified xsi:type="dcterms:W3CDTF">2026-08-16T04:58:06Z</dcterms:modified>
</cp:coreProperties>
</file>